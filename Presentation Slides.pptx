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Average" panose="020B0604020202020204" charset="0"/>
      <p:regular r:id="rId12"/>
    </p:embeddedFont>
    <p:embeddedFont>
      <p:font typeface="Oswald" panose="00000500000000000000" pitchFamily="2" charset="0"/>
      <p:regular r:id="rId13"/>
      <p:bold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80"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na m" userId="40e2426eafcc4ef1" providerId="LiveId" clId="{9990C222-59C5-4A8E-A725-00169E9BCF54}"/>
    <pc:docChg chg="undo custSel modSld">
      <pc:chgData name="sharna m" userId="40e2426eafcc4ef1" providerId="LiveId" clId="{9990C222-59C5-4A8E-A725-00169E9BCF54}" dt="2026-05-18T14:13:17.770" v="49" actId="20577"/>
      <pc:docMkLst>
        <pc:docMk/>
      </pc:docMkLst>
      <pc:sldChg chg="modSp mod">
        <pc:chgData name="sharna m" userId="40e2426eafcc4ef1" providerId="LiveId" clId="{9990C222-59C5-4A8E-A725-00169E9BCF54}" dt="2026-05-18T14:09:19.635" v="0" actId="255"/>
        <pc:sldMkLst>
          <pc:docMk/>
          <pc:sldMk cId="0" sldId="257"/>
        </pc:sldMkLst>
        <pc:spChg chg="mod">
          <ac:chgData name="sharna m" userId="40e2426eafcc4ef1" providerId="LiveId" clId="{9990C222-59C5-4A8E-A725-00169E9BCF54}" dt="2026-05-18T14:09:19.635" v="0" actId="255"/>
          <ac:spMkLst>
            <pc:docMk/>
            <pc:sldMk cId="0" sldId="257"/>
            <ac:spMk id="66" creationId="{00000000-0000-0000-0000-000000000000}"/>
          </ac:spMkLst>
        </pc:spChg>
      </pc:sldChg>
      <pc:sldChg chg="modSp mod">
        <pc:chgData name="sharna m" userId="40e2426eafcc4ef1" providerId="LiveId" clId="{9990C222-59C5-4A8E-A725-00169E9BCF54}" dt="2026-05-18T14:13:17.770" v="49" actId="20577"/>
        <pc:sldMkLst>
          <pc:docMk/>
          <pc:sldMk cId="0" sldId="262"/>
        </pc:sldMkLst>
        <pc:spChg chg="mod">
          <ac:chgData name="sharna m" userId="40e2426eafcc4ef1" providerId="LiveId" clId="{9990C222-59C5-4A8E-A725-00169E9BCF54}" dt="2026-05-18T14:13:04.645" v="29" actId="20577"/>
          <ac:spMkLst>
            <pc:docMk/>
            <pc:sldMk cId="0" sldId="262"/>
            <ac:spMk id="102" creationId="{00000000-0000-0000-0000-000000000000}"/>
          </ac:spMkLst>
        </pc:spChg>
        <pc:spChg chg="mod">
          <ac:chgData name="sharna m" userId="40e2426eafcc4ef1" providerId="LiveId" clId="{9990C222-59C5-4A8E-A725-00169E9BCF54}" dt="2026-05-18T14:13:17.770" v="49" actId="20577"/>
          <ac:spMkLst>
            <pc:docMk/>
            <pc:sldMk cId="0" sldId="262"/>
            <ac:spMk id="10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dc23e9fd7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dc23e9fd7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e212f1da3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e212f1da3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e212f1da3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e212f1da3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e212f1da3e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e212f1da3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e212f1da3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e212f1da3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e212f1da3e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e212f1da3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e212f1da3e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e212f1da3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e212f1da3e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e212f1da3e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8" name="Google Shape;4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rgbClr val="45818E"/>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rba.gov.au/publications/rdp/2000/pdf/rdp2000-01.pdf"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hyperlink" Target="https://doi.org/10.2307/2325486" TargetMode="External"/><Relationship Id="rId4" Type="http://schemas.openxmlformats.org/officeDocument/2006/relationships/hyperlink" Target="https://doi.org/10.1111/irfi.1224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subTitle" idx="1"/>
          </p:nvPr>
        </p:nvSpPr>
        <p:spPr>
          <a:xfrm>
            <a:off x="711425" y="3383825"/>
            <a:ext cx="7801500" cy="112950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GB">
                <a:solidFill>
                  <a:schemeClr val="dk1"/>
                </a:solidFill>
              </a:rPr>
              <a:t>Sharna McClure</a:t>
            </a:r>
            <a:endParaRPr>
              <a:solidFill>
                <a:schemeClr val="dk1"/>
              </a:solidFill>
            </a:endParaRPr>
          </a:p>
          <a:p>
            <a:pPr marL="0" lvl="0" indent="0" algn="ctr" rtl="0">
              <a:spcBef>
                <a:spcPts val="0"/>
              </a:spcBef>
              <a:spcAft>
                <a:spcPts val="0"/>
              </a:spcAft>
              <a:buNone/>
            </a:pPr>
            <a:r>
              <a:rPr lang="en-GB">
                <a:solidFill>
                  <a:schemeClr val="dk1"/>
                </a:solidFill>
              </a:rPr>
              <a:t>Matthew Versace </a:t>
            </a:r>
            <a:endParaRPr>
              <a:solidFill>
                <a:schemeClr val="dk1"/>
              </a:solidFill>
            </a:endParaRPr>
          </a:p>
          <a:p>
            <a:pPr marL="0" lvl="0" indent="0" algn="ctr" rtl="0">
              <a:spcBef>
                <a:spcPts val="0"/>
              </a:spcBef>
              <a:spcAft>
                <a:spcPts val="0"/>
              </a:spcAft>
              <a:buNone/>
            </a:pPr>
            <a:r>
              <a:rPr lang="en-GB">
                <a:solidFill>
                  <a:schemeClr val="dk1"/>
                </a:solidFill>
              </a:rPr>
              <a:t>Ciara Stevens-Baytopp</a:t>
            </a:r>
            <a:endParaRPr>
              <a:solidFill>
                <a:schemeClr val="dk1"/>
              </a:solidFill>
            </a:endParaRPr>
          </a:p>
        </p:txBody>
      </p:sp>
      <p:sp>
        <p:nvSpPr>
          <p:cNvPr id="60" name="Google Shape;60;p13"/>
          <p:cNvSpPr txBox="1">
            <a:spLocks noGrp="1"/>
          </p:cNvSpPr>
          <p:nvPr>
            <p:ph type="ctrTitle"/>
          </p:nvPr>
        </p:nvSpPr>
        <p:spPr>
          <a:xfrm>
            <a:off x="183900" y="546500"/>
            <a:ext cx="8776200" cy="2740500"/>
          </a:xfrm>
          <a:prstGeom prst="rect">
            <a:avLst/>
          </a:prstGeom>
        </p:spPr>
        <p:txBody>
          <a:bodyPr spcFirstLastPara="1" wrap="square" lIns="91425" tIns="91425" rIns="91425" bIns="91425" anchor="b" anchorCtr="0">
            <a:noAutofit/>
          </a:bodyPr>
          <a:lstStyle/>
          <a:p>
            <a:pPr marL="0" lvl="0" indent="0" algn="ctr" rtl="0">
              <a:lnSpc>
                <a:spcPct val="115000"/>
              </a:lnSpc>
              <a:spcBef>
                <a:spcPts val="1400"/>
              </a:spcBef>
              <a:spcAft>
                <a:spcPts val="0"/>
              </a:spcAft>
              <a:buNone/>
            </a:pPr>
            <a:r>
              <a:rPr lang="en-GB" sz="2600" b="1"/>
              <a:t>How do changes in key macroeconomic variables affect stock returns of ASX-200 constituents from 2014-2024, and to what extent do these effects challenge the assumptions of the Efficient Market Hypothesis?</a:t>
            </a:r>
            <a:endParaRPr sz="2600" b="1"/>
          </a:p>
          <a:p>
            <a:pPr marL="0" lvl="0" indent="0" algn="ctr" rtl="0">
              <a:lnSpc>
                <a:spcPct val="115000"/>
              </a:lnSpc>
              <a:spcBef>
                <a:spcPts val="1400"/>
              </a:spcBef>
              <a:spcAft>
                <a:spcPts val="600"/>
              </a:spcAft>
              <a:buNone/>
            </a:pPr>
            <a:endParaRPr sz="26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Research Question</a:t>
            </a:r>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Char char="●"/>
            </a:pPr>
            <a:r>
              <a:rPr lang="en-GB" sz="1400" dirty="0">
                <a:solidFill>
                  <a:schemeClr val="dk1"/>
                </a:solidFill>
              </a:rPr>
              <a:t>Our research question is: </a:t>
            </a:r>
            <a:endParaRPr sz="1400" dirty="0">
              <a:solidFill>
                <a:schemeClr val="dk1"/>
              </a:solidFill>
            </a:endParaRPr>
          </a:p>
          <a:p>
            <a:pPr marL="914400" lvl="1" indent="-317500" algn="l" rtl="0">
              <a:lnSpc>
                <a:spcPct val="150000"/>
              </a:lnSpc>
              <a:spcBef>
                <a:spcPts val="0"/>
              </a:spcBef>
              <a:spcAft>
                <a:spcPts val="0"/>
              </a:spcAft>
              <a:buClr>
                <a:schemeClr val="dk1"/>
              </a:buClr>
              <a:buSzPts val="1400"/>
              <a:buChar char="○"/>
            </a:pPr>
            <a:r>
              <a:rPr lang="en-GB" sz="1800" b="1" i="1" dirty="0">
                <a:solidFill>
                  <a:schemeClr val="dk1"/>
                </a:solidFill>
              </a:rPr>
              <a:t>How do changes in key macroeconomic variables affect stock returns of ASX-200 constituents from 2014-2024, and to what extent do these effects challenge the assumptions of the Efficient Market Hypothesis? </a:t>
            </a:r>
            <a:endParaRPr sz="1800" b="1" i="1" dirty="0">
              <a:solidFill>
                <a:schemeClr val="dk1"/>
              </a:solidFill>
            </a:endParaRPr>
          </a:p>
          <a:p>
            <a:pPr marL="457200" lvl="0" indent="0" algn="l" rtl="0">
              <a:lnSpc>
                <a:spcPct val="150000"/>
              </a:lnSpc>
              <a:spcBef>
                <a:spcPts val="0"/>
              </a:spcBef>
              <a:spcAft>
                <a:spcPts val="0"/>
              </a:spcAft>
              <a:buNone/>
            </a:pPr>
            <a:endParaRPr sz="1400" i="1" dirty="0">
              <a:solidFill>
                <a:schemeClr val="dk1"/>
              </a:solidFill>
            </a:endParaRPr>
          </a:p>
          <a:p>
            <a:pPr marL="457200" lvl="0" indent="-317500" algn="l" rtl="0">
              <a:lnSpc>
                <a:spcPct val="150000"/>
              </a:lnSpc>
              <a:spcBef>
                <a:spcPts val="0"/>
              </a:spcBef>
              <a:spcAft>
                <a:spcPts val="0"/>
              </a:spcAft>
              <a:buClr>
                <a:schemeClr val="dk1"/>
              </a:buClr>
              <a:buSzPts val="1400"/>
              <a:buChar char="●"/>
            </a:pPr>
            <a:r>
              <a:rPr lang="en-GB" sz="1400" dirty="0">
                <a:solidFill>
                  <a:schemeClr val="dk1"/>
                </a:solidFill>
              </a:rPr>
              <a:t>By definition, the Efficient Market Hypothesis (EMH) is a financial theory that suggests that asset prices, like stocks, completely and immediately reflect all available information at any point in time. As prices immediately adjust to new information, this theory implies that consistently staying ahead of the market on a risk-adjusted basis is impossible (Fama, 1970). </a:t>
            </a:r>
            <a:endParaRPr sz="1400"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Why it Matters</a:t>
            </a:r>
            <a:endParaRPr/>
          </a:p>
        </p:txBody>
      </p:sp>
      <p:sp>
        <p:nvSpPr>
          <p:cNvPr id="72" name="Google Shape;72;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17183" algn="l" rtl="0">
              <a:lnSpc>
                <a:spcPct val="130000"/>
              </a:lnSpc>
              <a:spcBef>
                <a:spcPts val="0"/>
              </a:spcBef>
              <a:spcAft>
                <a:spcPts val="0"/>
              </a:spcAft>
              <a:buClr>
                <a:schemeClr val="dk1"/>
              </a:buClr>
              <a:buSzPts val="1395"/>
              <a:buChar char="●"/>
            </a:pPr>
            <a:r>
              <a:rPr lang="en-GB" sz="1395">
                <a:solidFill>
                  <a:schemeClr val="dk1"/>
                </a:solidFill>
              </a:rPr>
              <a:t>Firstly, there have been many economic disruptors that have caused substantial market volatility between 2014-2024. Our research analyses these occurrences and provided strong-real world context for testing if Australian financial markets actually react immediately and behave efficiently. </a:t>
            </a:r>
            <a:endParaRPr sz="1395">
              <a:solidFill>
                <a:schemeClr val="dk1"/>
              </a:solidFill>
            </a:endParaRPr>
          </a:p>
          <a:p>
            <a:pPr marL="0" lvl="0" indent="0" algn="l" rtl="0">
              <a:lnSpc>
                <a:spcPct val="130000"/>
              </a:lnSpc>
              <a:spcBef>
                <a:spcPts val="0"/>
              </a:spcBef>
              <a:spcAft>
                <a:spcPts val="0"/>
              </a:spcAft>
              <a:buSzPts val="1018"/>
              <a:buNone/>
            </a:pPr>
            <a:endParaRPr sz="1395">
              <a:solidFill>
                <a:schemeClr val="dk1"/>
              </a:solidFill>
            </a:endParaRPr>
          </a:p>
          <a:p>
            <a:pPr marL="457200" lvl="0" indent="-317183" algn="l" rtl="0">
              <a:lnSpc>
                <a:spcPct val="130000"/>
              </a:lnSpc>
              <a:spcBef>
                <a:spcPts val="0"/>
              </a:spcBef>
              <a:spcAft>
                <a:spcPts val="0"/>
              </a:spcAft>
              <a:buClr>
                <a:schemeClr val="dk1"/>
              </a:buClr>
              <a:buSzPts val="1395"/>
              <a:buChar char="●"/>
            </a:pPr>
            <a:r>
              <a:rPr lang="en-GB" sz="1395">
                <a:solidFill>
                  <a:schemeClr val="dk1"/>
                </a:solidFill>
              </a:rPr>
              <a:t>The accuracy of the EMH for investors, firms and policymakers is very important. If macroeconomic variables consistently predict stock returns,we can assume that by using publicly available economic information investors could gain abnormal returns thus challenging the EMH. There are flow on impacts in the real world like financial portfolio management (Beechey et al., 2000). </a:t>
            </a:r>
            <a:endParaRPr sz="1395">
              <a:solidFill>
                <a:schemeClr val="dk1"/>
              </a:solidFill>
            </a:endParaRPr>
          </a:p>
          <a:p>
            <a:pPr marL="457200" lvl="0" indent="0" algn="l" rtl="0">
              <a:lnSpc>
                <a:spcPct val="130000"/>
              </a:lnSpc>
              <a:spcBef>
                <a:spcPts val="0"/>
              </a:spcBef>
              <a:spcAft>
                <a:spcPts val="0"/>
              </a:spcAft>
              <a:buSzPts val="1018"/>
              <a:buNone/>
            </a:pPr>
            <a:endParaRPr sz="1395">
              <a:solidFill>
                <a:schemeClr val="dk1"/>
              </a:solidFill>
            </a:endParaRPr>
          </a:p>
          <a:p>
            <a:pPr marL="457200" lvl="0" indent="-317183" algn="l" rtl="0">
              <a:lnSpc>
                <a:spcPct val="130000"/>
              </a:lnSpc>
              <a:spcBef>
                <a:spcPts val="0"/>
              </a:spcBef>
              <a:spcAft>
                <a:spcPts val="0"/>
              </a:spcAft>
              <a:buClr>
                <a:schemeClr val="dk1"/>
              </a:buClr>
              <a:buSzPts val="1395"/>
              <a:buChar char="●"/>
            </a:pPr>
            <a:r>
              <a:rPr lang="en-GB" sz="1395">
                <a:solidFill>
                  <a:schemeClr val="dk1"/>
                </a:solidFill>
              </a:rPr>
              <a:t>There are very few studies on Australian Market Efficiency as most financial literature is based off on US or European markets. However, Australia is a smaller, relatively resource dependent economy, which may react differently to macroeconomic shocks in comparison to larger, more global economies (Chiah et al., 2018). </a:t>
            </a:r>
            <a:endParaRPr sz="1395">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Data</a:t>
            </a:r>
            <a:endParaRPr/>
          </a:p>
        </p:txBody>
      </p:sp>
      <p:pic>
        <p:nvPicPr>
          <p:cNvPr id="78" name="Google Shape;78;p16" title="Screenshot 2026-05-18 at 22.30.40.png"/>
          <p:cNvPicPr preferRelativeResize="0"/>
          <p:nvPr/>
        </p:nvPicPr>
        <p:blipFill>
          <a:blip r:embed="rId3">
            <a:alphaModFix/>
          </a:blip>
          <a:stretch>
            <a:fillRect/>
          </a:stretch>
        </p:blipFill>
        <p:spPr>
          <a:xfrm>
            <a:off x="3031575" y="1288275"/>
            <a:ext cx="5800725" cy="2876550"/>
          </a:xfrm>
          <a:prstGeom prst="rect">
            <a:avLst/>
          </a:prstGeom>
          <a:noFill/>
          <a:ln>
            <a:noFill/>
          </a:ln>
        </p:spPr>
      </p:pic>
      <p:sp>
        <p:nvSpPr>
          <p:cNvPr id="79" name="Google Shape;79;p16"/>
          <p:cNvSpPr txBox="1"/>
          <p:nvPr/>
        </p:nvSpPr>
        <p:spPr>
          <a:xfrm>
            <a:off x="31575" y="1448175"/>
            <a:ext cx="3000000" cy="7803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Font typeface="Average"/>
              <a:buChar char="●"/>
            </a:pPr>
            <a:r>
              <a:rPr lang="en-GB" sz="1800">
                <a:solidFill>
                  <a:schemeClr val="dk1"/>
                </a:solidFill>
                <a:latin typeface="Average"/>
                <a:ea typeface="Average"/>
                <a:cs typeface="Average"/>
                <a:sym typeface="Average"/>
              </a:rPr>
              <a:t>Quantmod </a:t>
            </a:r>
            <a:endParaRPr sz="1800">
              <a:solidFill>
                <a:schemeClr val="dk1"/>
              </a:solidFill>
              <a:latin typeface="Average"/>
              <a:ea typeface="Average"/>
              <a:cs typeface="Average"/>
              <a:sym typeface="Average"/>
            </a:endParaRPr>
          </a:p>
          <a:p>
            <a:pPr marL="457200" lvl="0" indent="-342900" algn="l" rtl="0">
              <a:lnSpc>
                <a:spcPct val="115000"/>
              </a:lnSpc>
              <a:spcBef>
                <a:spcPts val="0"/>
              </a:spcBef>
              <a:spcAft>
                <a:spcPts val="0"/>
              </a:spcAft>
              <a:buClr>
                <a:schemeClr val="dk1"/>
              </a:buClr>
              <a:buSzPts val="1800"/>
              <a:buFont typeface="Average"/>
              <a:buChar char="●"/>
            </a:pPr>
            <a:r>
              <a:rPr lang="en-GB" sz="1800">
                <a:solidFill>
                  <a:schemeClr val="dk1"/>
                </a:solidFill>
                <a:latin typeface="Average"/>
                <a:ea typeface="Average"/>
                <a:cs typeface="Average"/>
                <a:sym typeface="Average"/>
              </a:rPr>
              <a:t>Readrba </a:t>
            </a:r>
            <a:endParaRPr sz="1800">
              <a:solidFill>
                <a:schemeClr val="dk1"/>
              </a:solidFill>
              <a:latin typeface="Average"/>
              <a:ea typeface="Average"/>
              <a:cs typeface="Average"/>
              <a:sym typeface="Average"/>
            </a:endParaRPr>
          </a:p>
        </p:txBody>
      </p:sp>
      <p:sp>
        <p:nvSpPr>
          <p:cNvPr id="80" name="Google Shape;80;p16"/>
          <p:cNvSpPr txBox="1"/>
          <p:nvPr/>
        </p:nvSpPr>
        <p:spPr>
          <a:xfrm>
            <a:off x="4431938" y="435947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GB" sz="1800" i="1">
                <a:solidFill>
                  <a:schemeClr val="dk1"/>
                </a:solidFill>
                <a:latin typeface="Average"/>
                <a:ea typeface="Average"/>
                <a:cs typeface="Average"/>
                <a:sym typeface="Average"/>
              </a:rPr>
              <a:t>Figure 1: Data exclusion table </a:t>
            </a:r>
            <a:endParaRPr sz="1800" i="1">
              <a:solidFill>
                <a:schemeClr val="dk1"/>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Empirical Strategy </a:t>
            </a:r>
            <a:endParaRPr/>
          </a:p>
        </p:txBody>
      </p:sp>
      <p:sp>
        <p:nvSpPr>
          <p:cNvPr id="86" name="Google Shape;86;p17"/>
          <p:cNvSpPr txBox="1">
            <a:spLocks noGrp="1"/>
          </p:cNvSpPr>
          <p:nvPr>
            <p:ph type="body" idx="1"/>
          </p:nvPr>
        </p:nvSpPr>
        <p:spPr>
          <a:xfrm>
            <a:off x="311700" y="1152475"/>
            <a:ext cx="8520600" cy="204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solidFill>
                  <a:schemeClr val="dk1"/>
                </a:solidFill>
              </a:rPr>
              <a:t>Original CAPM:</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r>
              <a:rPr lang="en-GB">
                <a:solidFill>
                  <a:schemeClr val="dk1"/>
                </a:solidFill>
              </a:rPr>
              <a:t>Multi-Factor CAPM:</a:t>
            </a:r>
            <a:endParaRPr>
              <a:solidFill>
                <a:schemeClr val="dk1"/>
              </a:solidFill>
            </a:endParaRPr>
          </a:p>
          <a:p>
            <a:pPr marL="0" lvl="0" indent="0" algn="l" rtl="0">
              <a:spcBef>
                <a:spcPts val="1200"/>
              </a:spcBef>
              <a:spcAft>
                <a:spcPts val="1200"/>
              </a:spcAft>
              <a:buNone/>
            </a:pPr>
            <a:endParaRPr>
              <a:solidFill>
                <a:schemeClr val="dk1"/>
              </a:solidFill>
            </a:endParaRPr>
          </a:p>
        </p:txBody>
      </p:sp>
      <p:pic>
        <p:nvPicPr>
          <p:cNvPr id="87" name="Google Shape;87;p17" title="Screenshot 2026-05-18 at 22.37.59.png"/>
          <p:cNvPicPr preferRelativeResize="0"/>
          <p:nvPr/>
        </p:nvPicPr>
        <p:blipFill>
          <a:blip r:embed="rId3">
            <a:alphaModFix/>
          </a:blip>
          <a:stretch>
            <a:fillRect/>
          </a:stretch>
        </p:blipFill>
        <p:spPr>
          <a:xfrm>
            <a:off x="262275" y="2504075"/>
            <a:ext cx="8793475" cy="242450"/>
          </a:xfrm>
          <a:prstGeom prst="rect">
            <a:avLst/>
          </a:prstGeom>
          <a:noFill/>
          <a:ln>
            <a:noFill/>
          </a:ln>
        </p:spPr>
      </p:pic>
      <p:pic>
        <p:nvPicPr>
          <p:cNvPr id="88" name="Google Shape;88;p17" title="Screenshot 2026-05-18 at 22.41.22.png"/>
          <p:cNvPicPr preferRelativeResize="0"/>
          <p:nvPr/>
        </p:nvPicPr>
        <p:blipFill>
          <a:blip r:embed="rId4">
            <a:alphaModFix/>
          </a:blip>
          <a:stretch>
            <a:fillRect/>
          </a:stretch>
        </p:blipFill>
        <p:spPr>
          <a:xfrm>
            <a:off x="2079950" y="1250025"/>
            <a:ext cx="2990850" cy="333375"/>
          </a:xfrm>
          <a:prstGeom prst="rect">
            <a:avLst/>
          </a:prstGeom>
          <a:noFill/>
          <a:ln>
            <a:noFill/>
          </a:ln>
        </p:spPr>
      </p:pic>
      <p:sp>
        <p:nvSpPr>
          <p:cNvPr id="89" name="Google Shape;89;p17"/>
          <p:cNvSpPr txBox="1"/>
          <p:nvPr/>
        </p:nvSpPr>
        <p:spPr>
          <a:xfrm>
            <a:off x="151425" y="3046150"/>
            <a:ext cx="8520600" cy="10989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Font typeface="Average"/>
              <a:buChar char="●"/>
            </a:pPr>
            <a:r>
              <a:rPr lang="en-GB" sz="1800">
                <a:solidFill>
                  <a:schemeClr val="dk1"/>
                </a:solidFill>
                <a:latin typeface="Average"/>
                <a:ea typeface="Average"/>
                <a:cs typeface="Average"/>
                <a:sym typeface="Average"/>
              </a:rPr>
              <a:t>Momentum: 20-Day cumulative log return (Jegadeesh &amp; Titman, 1993 </a:t>
            </a:r>
            <a:endParaRPr sz="1800">
              <a:solidFill>
                <a:schemeClr val="dk1"/>
              </a:solidFill>
              <a:latin typeface="Average"/>
              <a:ea typeface="Average"/>
              <a:cs typeface="Average"/>
              <a:sym typeface="Average"/>
            </a:endParaRPr>
          </a:p>
          <a:p>
            <a:pPr marL="457200" lvl="0" indent="-342900" algn="l" rtl="0">
              <a:lnSpc>
                <a:spcPct val="115000"/>
              </a:lnSpc>
              <a:spcBef>
                <a:spcPts val="0"/>
              </a:spcBef>
              <a:spcAft>
                <a:spcPts val="0"/>
              </a:spcAft>
              <a:buClr>
                <a:schemeClr val="dk1"/>
              </a:buClr>
              <a:buSzPts val="1800"/>
              <a:buFont typeface="Average"/>
              <a:buChar char="●"/>
            </a:pPr>
            <a:r>
              <a:rPr lang="en-GB" sz="1800">
                <a:solidFill>
                  <a:schemeClr val="dk1"/>
                </a:solidFill>
                <a:latin typeface="Average"/>
                <a:ea typeface="Average"/>
                <a:cs typeface="Average"/>
                <a:sym typeface="Average"/>
              </a:rPr>
              <a:t>Overreaction: Returns exceeded or were below 2 standard deviations from the mean (binary variable) </a:t>
            </a:r>
            <a:endParaRPr sz="1800">
              <a:solidFill>
                <a:schemeClr val="dk1"/>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142925" y="145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Main Results</a:t>
            </a:r>
            <a:endParaRPr/>
          </a:p>
        </p:txBody>
      </p:sp>
      <p:pic>
        <p:nvPicPr>
          <p:cNvPr id="95" name="Google Shape;95;p18" title="Regression.png"/>
          <p:cNvPicPr preferRelativeResize="0"/>
          <p:nvPr/>
        </p:nvPicPr>
        <p:blipFill>
          <a:blip r:embed="rId3">
            <a:alphaModFix/>
          </a:blip>
          <a:stretch>
            <a:fillRect/>
          </a:stretch>
        </p:blipFill>
        <p:spPr>
          <a:xfrm>
            <a:off x="4337076" y="718100"/>
            <a:ext cx="4619025" cy="4005950"/>
          </a:xfrm>
          <a:prstGeom prst="rect">
            <a:avLst/>
          </a:prstGeom>
          <a:noFill/>
          <a:ln>
            <a:noFill/>
          </a:ln>
        </p:spPr>
      </p:pic>
      <p:sp>
        <p:nvSpPr>
          <p:cNvPr id="96" name="Google Shape;96;p18"/>
          <p:cNvSpPr txBox="1"/>
          <p:nvPr/>
        </p:nvSpPr>
        <p:spPr>
          <a:xfrm>
            <a:off x="4931330" y="4724050"/>
            <a:ext cx="41571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GB" sz="1800" i="1">
                <a:solidFill>
                  <a:schemeClr val="dk1"/>
                </a:solidFill>
                <a:latin typeface="Average"/>
                <a:ea typeface="Average"/>
                <a:cs typeface="Average"/>
                <a:sym typeface="Average"/>
              </a:rPr>
              <a:t>Figure 2: Main regression results</a:t>
            </a:r>
            <a:endParaRPr sz="1800" i="1">
              <a:solidFill>
                <a:schemeClr val="dk1"/>
              </a:solidFill>
              <a:latin typeface="Average"/>
              <a:ea typeface="Average"/>
              <a:cs typeface="Average"/>
              <a:sym typeface="Average"/>
            </a:endParaRPr>
          </a:p>
        </p:txBody>
      </p:sp>
      <p:sp>
        <p:nvSpPr>
          <p:cNvPr id="97" name="Google Shape;97;p18"/>
          <p:cNvSpPr txBox="1"/>
          <p:nvPr/>
        </p:nvSpPr>
        <p:spPr>
          <a:xfrm>
            <a:off x="-40175" y="617350"/>
            <a:ext cx="4094700" cy="47409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Clr>
                <a:schemeClr val="dk1"/>
              </a:buClr>
              <a:buSzPts val="1400"/>
              <a:buFont typeface="Average"/>
              <a:buChar char="●"/>
            </a:pPr>
            <a:r>
              <a:rPr lang="en-GB" sz="1100">
                <a:solidFill>
                  <a:schemeClr val="dk1"/>
                </a:solidFill>
                <a:latin typeface="Average"/>
                <a:ea typeface="Average"/>
                <a:cs typeface="Average"/>
                <a:sym typeface="Average"/>
              </a:rPr>
              <a:t>WES is expected to have a return that is 0.0464% per day higher than the CAPM predicts</a:t>
            </a:r>
            <a:endParaRPr sz="1100">
              <a:solidFill>
                <a:schemeClr val="dk1"/>
              </a:solidFill>
              <a:latin typeface="Average"/>
              <a:ea typeface="Average"/>
              <a:cs typeface="Average"/>
              <a:sym typeface="Average"/>
            </a:endParaRPr>
          </a:p>
          <a:p>
            <a:pPr marL="457200" lvl="0" indent="0" algn="l" rtl="0">
              <a:lnSpc>
                <a:spcPct val="150000"/>
              </a:lnSpc>
              <a:spcBef>
                <a:spcPts val="0"/>
              </a:spcBef>
              <a:spcAft>
                <a:spcPts val="0"/>
              </a:spcAft>
              <a:buNone/>
            </a:pPr>
            <a:endParaRPr sz="1100">
              <a:solidFill>
                <a:schemeClr val="dk1"/>
              </a:solidFill>
              <a:latin typeface="Average"/>
              <a:ea typeface="Average"/>
              <a:cs typeface="Average"/>
              <a:sym typeface="Average"/>
            </a:endParaRPr>
          </a:p>
          <a:p>
            <a:pPr marL="457200" lvl="0" indent="-298450" algn="l" rtl="0">
              <a:lnSpc>
                <a:spcPct val="150000"/>
              </a:lnSpc>
              <a:spcBef>
                <a:spcPts val="0"/>
              </a:spcBef>
              <a:spcAft>
                <a:spcPts val="0"/>
              </a:spcAft>
              <a:buClr>
                <a:schemeClr val="dk1"/>
              </a:buClr>
              <a:buSzPts val="1100"/>
              <a:buFont typeface="Times New Roman"/>
              <a:buChar char="●"/>
            </a:pPr>
            <a:r>
              <a:rPr lang="en-GB" sz="1100">
                <a:solidFill>
                  <a:schemeClr val="dk1"/>
                </a:solidFill>
                <a:latin typeface="Average"/>
                <a:ea typeface="Average"/>
                <a:cs typeface="Average"/>
                <a:sym typeface="Average"/>
              </a:rPr>
              <a:t>We find </a:t>
            </a:r>
            <a:r>
              <a:rPr lang="en-GB" sz="1100" b="1">
                <a:solidFill>
                  <a:schemeClr val="dk1"/>
                </a:solidFill>
                <a:latin typeface="Average"/>
                <a:ea typeface="Average"/>
                <a:cs typeface="Average"/>
                <a:sym typeface="Average"/>
              </a:rPr>
              <a:t>that</a:t>
            </a:r>
            <a:r>
              <a:rPr lang="en-GB" sz="1100">
                <a:solidFill>
                  <a:schemeClr val="dk1"/>
                </a:solidFill>
                <a:latin typeface="Average"/>
                <a:ea typeface="Average"/>
                <a:cs typeface="Average"/>
                <a:sym typeface="Average"/>
              </a:rPr>
              <a:t> a 1% increase in market excess returns is associated with an estimated β increase a securities excess returns, ceteris paribus.</a:t>
            </a:r>
            <a:endParaRPr sz="1100">
              <a:solidFill>
                <a:schemeClr val="dk1"/>
              </a:solidFill>
              <a:latin typeface="Average"/>
              <a:ea typeface="Average"/>
              <a:cs typeface="Average"/>
              <a:sym typeface="Average"/>
            </a:endParaRPr>
          </a:p>
          <a:p>
            <a:pPr marL="0" lvl="0" indent="0" algn="l" rtl="0">
              <a:lnSpc>
                <a:spcPct val="150000"/>
              </a:lnSpc>
              <a:spcBef>
                <a:spcPts val="0"/>
              </a:spcBef>
              <a:spcAft>
                <a:spcPts val="0"/>
              </a:spcAft>
              <a:buNone/>
            </a:pPr>
            <a:endParaRPr sz="1100">
              <a:solidFill>
                <a:schemeClr val="dk1"/>
              </a:solidFill>
              <a:latin typeface="Average"/>
              <a:ea typeface="Average"/>
              <a:cs typeface="Average"/>
              <a:sym typeface="Average"/>
            </a:endParaRPr>
          </a:p>
          <a:p>
            <a:pPr marL="457200" lvl="0" indent="-298450" algn="l" rtl="0">
              <a:lnSpc>
                <a:spcPct val="150000"/>
              </a:lnSpc>
              <a:spcBef>
                <a:spcPts val="0"/>
              </a:spcBef>
              <a:spcAft>
                <a:spcPts val="0"/>
              </a:spcAft>
              <a:buClr>
                <a:schemeClr val="dk1"/>
              </a:buClr>
              <a:buSzPts val="1100"/>
              <a:buFont typeface="Average"/>
              <a:buChar char="●"/>
            </a:pPr>
            <a:r>
              <a:rPr lang="en-GB" sz="1100">
                <a:solidFill>
                  <a:schemeClr val="dk1"/>
                </a:solidFill>
                <a:latin typeface="Average"/>
                <a:ea typeface="Average"/>
                <a:cs typeface="Average"/>
                <a:sym typeface="Average"/>
              </a:rPr>
              <a:t>CBA excess returns are on average 0.43% lower on the day following an RBA rate increase</a:t>
            </a:r>
            <a:endParaRPr sz="1100">
              <a:solidFill>
                <a:schemeClr val="dk1"/>
              </a:solidFill>
              <a:latin typeface="Average"/>
              <a:ea typeface="Average"/>
              <a:cs typeface="Average"/>
              <a:sym typeface="Average"/>
            </a:endParaRPr>
          </a:p>
          <a:p>
            <a:pPr marL="457200" lvl="0" indent="0" algn="l" rtl="0">
              <a:lnSpc>
                <a:spcPct val="150000"/>
              </a:lnSpc>
              <a:spcBef>
                <a:spcPts val="0"/>
              </a:spcBef>
              <a:spcAft>
                <a:spcPts val="0"/>
              </a:spcAft>
              <a:buNone/>
            </a:pPr>
            <a:endParaRPr sz="1100">
              <a:solidFill>
                <a:schemeClr val="dk1"/>
              </a:solidFill>
              <a:latin typeface="Average"/>
              <a:ea typeface="Average"/>
              <a:cs typeface="Average"/>
              <a:sym typeface="Average"/>
            </a:endParaRPr>
          </a:p>
          <a:p>
            <a:pPr marL="457200" lvl="0" indent="-298450" algn="l" rtl="0">
              <a:lnSpc>
                <a:spcPct val="150000"/>
              </a:lnSpc>
              <a:spcBef>
                <a:spcPts val="0"/>
              </a:spcBef>
              <a:spcAft>
                <a:spcPts val="0"/>
              </a:spcAft>
              <a:buClr>
                <a:schemeClr val="dk1"/>
              </a:buClr>
              <a:buSzPts val="1100"/>
              <a:buFont typeface="Average"/>
              <a:buChar char="●"/>
            </a:pPr>
            <a:r>
              <a:rPr lang="en-GB" sz="1100">
                <a:solidFill>
                  <a:schemeClr val="dk1"/>
                </a:solidFill>
                <a:latin typeface="Average"/>
                <a:ea typeface="Average"/>
                <a:cs typeface="Average"/>
                <a:sym typeface="Average"/>
              </a:rPr>
              <a:t>BHPs excess returns are on average 0.93% lower on days when the RBA has cut the interest rate.</a:t>
            </a:r>
            <a:endParaRPr sz="1100">
              <a:solidFill>
                <a:schemeClr val="dk1"/>
              </a:solidFill>
              <a:latin typeface="Average"/>
              <a:ea typeface="Average"/>
              <a:cs typeface="Average"/>
              <a:sym typeface="Average"/>
            </a:endParaRPr>
          </a:p>
          <a:p>
            <a:pPr marL="0" lvl="0" indent="0" algn="l" rtl="0">
              <a:lnSpc>
                <a:spcPct val="150000"/>
              </a:lnSpc>
              <a:spcBef>
                <a:spcPts val="0"/>
              </a:spcBef>
              <a:spcAft>
                <a:spcPts val="0"/>
              </a:spcAft>
              <a:buNone/>
            </a:pPr>
            <a:endParaRPr sz="1100">
              <a:solidFill>
                <a:schemeClr val="dk1"/>
              </a:solidFill>
              <a:latin typeface="Average"/>
              <a:ea typeface="Average"/>
              <a:cs typeface="Average"/>
              <a:sym typeface="Average"/>
            </a:endParaRPr>
          </a:p>
          <a:p>
            <a:pPr marL="457200" lvl="0" indent="-298450" algn="l" rtl="0">
              <a:lnSpc>
                <a:spcPct val="150000"/>
              </a:lnSpc>
              <a:spcBef>
                <a:spcPts val="0"/>
              </a:spcBef>
              <a:spcAft>
                <a:spcPts val="0"/>
              </a:spcAft>
              <a:buClr>
                <a:schemeClr val="dk1"/>
              </a:buClr>
              <a:buSzPts val="1100"/>
              <a:buFont typeface="Average"/>
              <a:buChar char="●"/>
            </a:pPr>
            <a:r>
              <a:rPr lang="en-GB" sz="1100">
                <a:solidFill>
                  <a:schemeClr val="dk1"/>
                </a:solidFill>
                <a:latin typeface="Average"/>
                <a:ea typeface="Average"/>
                <a:cs typeface="Average"/>
                <a:sym typeface="Average"/>
              </a:rPr>
              <a:t>For BHP, a one unit increase in the 20-day cumulative log return is, ceteris paribus, associated with a 0.85 percent decrease in BHP excess returns the following day</a:t>
            </a:r>
            <a:endParaRPr sz="1100">
              <a:solidFill>
                <a:schemeClr val="dk1"/>
              </a:solidFill>
              <a:latin typeface="Average"/>
              <a:ea typeface="Average"/>
              <a:cs typeface="Average"/>
              <a:sym typeface="Average"/>
            </a:endParaRPr>
          </a:p>
          <a:p>
            <a:pPr marL="0" lvl="0" indent="0" algn="l" rtl="0">
              <a:lnSpc>
                <a:spcPct val="150000"/>
              </a:lnSpc>
              <a:spcBef>
                <a:spcPts val="0"/>
              </a:spcBef>
              <a:spcAft>
                <a:spcPts val="0"/>
              </a:spcAft>
              <a:buNone/>
            </a:pPr>
            <a:endParaRPr sz="1100">
              <a:solidFill>
                <a:schemeClr val="dk1"/>
              </a:solidFill>
              <a:latin typeface="Average"/>
              <a:ea typeface="Average"/>
              <a:cs typeface="Average"/>
              <a:sym typeface="Average"/>
            </a:endParaRPr>
          </a:p>
          <a:p>
            <a:pPr marL="0" lvl="0" indent="0" algn="l" rtl="0">
              <a:lnSpc>
                <a:spcPct val="150000"/>
              </a:lnSpc>
              <a:spcBef>
                <a:spcPts val="0"/>
              </a:spcBef>
              <a:spcAft>
                <a:spcPts val="0"/>
              </a:spcAft>
              <a:buNone/>
            </a:pPr>
            <a:endParaRPr sz="1100">
              <a:solidFill>
                <a:schemeClr val="dk1"/>
              </a:solidFill>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body" idx="1"/>
          </p:nvPr>
        </p:nvSpPr>
        <p:spPr>
          <a:xfrm>
            <a:off x="311700" y="1152475"/>
            <a:ext cx="4044300" cy="3416400"/>
          </a:xfrm>
          <a:prstGeom prst="rect">
            <a:avLst/>
          </a:prstGeom>
        </p:spPr>
        <p:txBody>
          <a:bodyPr spcFirstLastPara="1" wrap="square" lIns="91425" tIns="91425" rIns="91425" bIns="91425" anchor="t" anchorCtr="0">
            <a:normAutofit fontScale="25000" lnSpcReduction="20000"/>
          </a:bodyPr>
          <a:lstStyle/>
          <a:p>
            <a:pPr marL="114300" lvl="0" indent="0" algn="l" rtl="0">
              <a:spcBef>
                <a:spcPts val="0"/>
              </a:spcBef>
              <a:spcAft>
                <a:spcPts val="0"/>
              </a:spcAft>
              <a:buClr>
                <a:schemeClr val="dk1"/>
              </a:buClr>
              <a:buSzPct val="100000"/>
              <a:buNone/>
            </a:pPr>
            <a:r>
              <a:rPr lang="en-GB" sz="7200" dirty="0">
                <a:solidFill>
                  <a:schemeClr val="dk1"/>
                </a:solidFill>
              </a:rPr>
              <a:t>1. Newey-West HAC </a:t>
            </a:r>
            <a:endParaRPr sz="7200" dirty="0">
              <a:solidFill>
                <a:schemeClr val="dk1"/>
              </a:solidFill>
            </a:endParaRPr>
          </a:p>
          <a:p>
            <a:pPr marL="914400" lvl="0" indent="-317500" algn="l" rtl="0">
              <a:spcBef>
                <a:spcPts val="0"/>
              </a:spcBef>
              <a:spcAft>
                <a:spcPts val="0"/>
              </a:spcAft>
              <a:buClr>
                <a:schemeClr val="dk1"/>
              </a:buClr>
              <a:buSzPct val="100000"/>
              <a:buChar char="-"/>
            </a:pPr>
            <a:r>
              <a:rPr lang="en-GB" sz="5600" dirty="0">
                <a:solidFill>
                  <a:schemeClr val="dk1"/>
                </a:solidFill>
              </a:rPr>
              <a:t>Heteroskedasticity detected </a:t>
            </a:r>
            <a:endParaRPr sz="5600" dirty="0">
              <a:solidFill>
                <a:schemeClr val="dk1"/>
              </a:solidFill>
            </a:endParaRPr>
          </a:p>
          <a:p>
            <a:pPr marL="914400" lvl="0" indent="-317500" algn="l" rtl="0">
              <a:spcBef>
                <a:spcPts val="0"/>
              </a:spcBef>
              <a:spcAft>
                <a:spcPts val="0"/>
              </a:spcAft>
              <a:buClr>
                <a:schemeClr val="dk1"/>
              </a:buClr>
              <a:buSzPct val="100000"/>
              <a:buChar char="-"/>
            </a:pPr>
            <a:r>
              <a:rPr lang="en-GB" sz="5600" dirty="0">
                <a:solidFill>
                  <a:schemeClr val="dk1"/>
                </a:solidFill>
              </a:rPr>
              <a:t>Autocorrelation detected </a:t>
            </a:r>
            <a:endParaRPr sz="5600" dirty="0">
              <a:solidFill>
                <a:schemeClr val="dk1"/>
              </a:solidFill>
            </a:endParaRPr>
          </a:p>
          <a:p>
            <a:pPr marL="914400" lvl="0" indent="-317500" algn="l" rtl="0">
              <a:spcBef>
                <a:spcPts val="0"/>
              </a:spcBef>
              <a:spcAft>
                <a:spcPts val="0"/>
              </a:spcAft>
              <a:buClr>
                <a:schemeClr val="dk1"/>
              </a:buClr>
              <a:buSzPct val="100000"/>
              <a:buChar char="-"/>
            </a:pPr>
            <a:r>
              <a:rPr lang="en-GB" sz="5600" dirty="0">
                <a:solidFill>
                  <a:schemeClr val="dk1"/>
                </a:solidFill>
              </a:rPr>
              <a:t>Several coefficients lost significance/weakened</a:t>
            </a:r>
            <a:endParaRPr sz="5600" dirty="0">
              <a:solidFill>
                <a:schemeClr val="dk1"/>
              </a:solidFill>
            </a:endParaRPr>
          </a:p>
          <a:p>
            <a:pPr marL="1828800" lvl="0" indent="0" algn="l" rtl="0">
              <a:spcBef>
                <a:spcPts val="1200"/>
              </a:spcBef>
              <a:spcAft>
                <a:spcPts val="0"/>
              </a:spcAft>
              <a:buNone/>
            </a:pPr>
            <a:endParaRPr lang="en-GB" sz="1600" dirty="0">
              <a:solidFill>
                <a:schemeClr val="dk1"/>
              </a:solidFill>
            </a:endParaRPr>
          </a:p>
          <a:p>
            <a:pPr marL="114300" lvl="0" indent="0" algn="l" rtl="0">
              <a:spcBef>
                <a:spcPts val="1200"/>
              </a:spcBef>
              <a:spcAft>
                <a:spcPts val="0"/>
              </a:spcAft>
              <a:buClr>
                <a:schemeClr val="dk1"/>
              </a:buClr>
              <a:buSzPct val="100000"/>
              <a:buNone/>
            </a:pPr>
            <a:r>
              <a:rPr lang="en-GB" sz="7200" dirty="0">
                <a:solidFill>
                  <a:schemeClr val="dk1"/>
                </a:solidFill>
              </a:rPr>
              <a:t>2.  Post-COVID Subsample</a:t>
            </a:r>
            <a:endParaRPr sz="7200" dirty="0">
              <a:solidFill>
                <a:schemeClr val="dk1"/>
              </a:solidFill>
            </a:endParaRPr>
          </a:p>
          <a:p>
            <a:pPr marL="914400" lvl="0" indent="-317500" algn="l" rtl="0">
              <a:spcBef>
                <a:spcPts val="0"/>
              </a:spcBef>
              <a:spcAft>
                <a:spcPts val="0"/>
              </a:spcAft>
              <a:buClr>
                <a:schemeClr val="dk1"/>
              </a:buClr>
              <a:buSzPct val="100000"/>
              <a:buChar char="-"/>
            </a:pPr>
            <a:r>
              <a:rPr lang="en-GB" sz="5600" dirty="0">
                <a:solidFill>
                  <a:schemeClr val="dk1"/>
                </a:solidFill>
              </a:rPr>
              <a:t>Findings changed after 2021</a:t>
            </a:r>
            <a:endParaRPr sz="5600" dirty="0">
              <a:solidFill>
                <a:schemeClr val="dk1"/>
              </a:solidFill>
            </a:endParaRPr>
          </a:p>
          <a:p>
            <a:pPr marL="914400" lvl="0" indent="-317500" algn="l" rtl="0">
              <a:spcBef>
                <a:spcPts val="0"/>
              </a:spcBef>
              <a:spcAft>
                <a:spcPts val="0"/>
              </a:spcAft>
              <a:buClr>
                <a:schemeClr val="dk1"/>
              </a:buClr>
              <a:buSzPct val="100000"/>
              <a:buChar char="-"/>
            </a:pPr>
            <a:r>
              <a:rPr lang="en-GB" sz="5600" dirty="0">
                <a:solidFill>
                  <a:schemeClr val="dk1"/>
                </a:solidFill>
              </a:rPr>
              <a:t>Sensitive to macroeconomic regime </a:t>
            </a:r>
            <a:endParaRPr sz="5600" dirty="0">
              <a:solidFill>
                <a:schemeClr val="dk1"/>
              </a:solidFill>
            </a:endParaRPr>
          </a:p>
          <a:p>
            <a:pPr marL="0" lvl="0" indent="0" algn="l" rtl="0">
              <a:spcBef>
                <a:spcPts val="1200"/>
              </a:spcBef>
              <a:spcAft>
                <a:spcPts val="0"/>
              </a:spcAft>
              <a:buNone/>
            </a:pPr>
            <a:endParaRPr sz="1600" dirty="0">
              <a:solidFill>
                <a:schemeClr val="dk1"/>
              </a:solidFill>
            </a:endParaRPr>
          </a:p>
          <a:p>
            <a:pPr marL="114300" lvl="0" indent="0" algn="l" rtl="0">
              <a:spcBef>
                <a:spcPts val="1200"/>
              </a:spcBef>
              <a:spcAft>
                <a:spcPts val="0"/>
              </a:spcAft>
              <a:buClr>
                <a:schemeClr val="dk1"/>
              </a:buClr>
              <a:buSzPct val="100000"/>
              <a:buNone/>
            </a:pPr>
            <a:r>
              <a:rPr lang="en-GB" sz="7200" dirty="0">
                <a:solidFill>
                  <a:schemeClr val="dk1"/>
                </a:solidFill>
              </a:rPr>
              <a:t>3. Alternative Specification </a:t>
            </a:r>
            <a:endParaRPr sz="7200" dirty="0">
              <a:solidFill>
                <a:schemeClr val="dk1"/>
              </a:solidFill>
            </a:endParaRPr>
          </a:p>
          <a:p>
            <a:pPr marL="914400" lvl="0" indent="-317500" algn="l" rtl="0">
              <a:spcBef>
                <a:spcPts val="0"/>
              </a:spcBef>
              <a:spcAft>
                <a:spcPts val="0"/>
              </a:spcAft>
              <a:buClr>
                <a:schemeClr val="dk1"/>
              </a:buClr>
              <a:buSzPct val="100000"/>
              <a:buChar char="-"/>
            </a:pPr>
            <a:r>
              <a:rPr lang="en-GB" sz="5600" dirty="0">
                <a:solidFill>
                  <a:schemeClr val="dk1"/>
                </a:solidFill>
              </a:rPr>
              <a:t>Basis-point specification </a:t>
            </a:r>
            <a:endParaRPr sz="5600" dirty="0">
              <a:solidFill>
                <a:schemeClr val="dk1"/>
              </a:solidFill>
            </a:endParaRPr>
          </a:p>
          <a:p>
            <a:pPr marL="914400" lvl="0" indent="-317500" algn="l" rtl="0">
              <a:spcBef>
                <a:spcPts val="0"/>
              </a:spcBef>
              <a:spcAft>
                <a:spcPts val="0"/>
              </a:spcAft>
              <a:buClr>
                <a:schemeClr val="dk1"/>
              </a:buClr>
              <a:buSzPct val="100000"/>
              <a:buChar char="-"/>
            </a:pPr>
            <a:r>
              <a:rPr lang="en-GB" sz="5600" dirty="0">
                <a:solidFill>
                  <a:schemeClr val="dk1"/>
                </a:solidFill>
              </a:rPr>
              <a:t>Limited additional significance</a:t>
            </a:r>
            <a:endParaRPr sz="5600" dirty="0">
              <a:solidFill>
                <a:schemeClr val="dk1"/>
              </a:solidFill>
            </a:endParaRPr>
          </a:p>
          <a:p>
            <a:pPr marL="914400" lvl="0" indent="-317500" algn="l" rtl="0">
              <a:spcBef>
                <a:spcPts val="0"/>
              </a:spcBef>
              <a:spcAft>
                <a:spcPts val="0"/>
              </a:spcAft>
              <a:buClr>
                <a:schemeClr val="dk1"/>
              </a:buClr>
              <a:buSzPct val="100000"/>
              <a:buChar char="-"/>
            </a:pPr>
            <a:r>
              <a:rPr lang="en-GB" sz="5600" dirty="0">
                <a:solidFill>
                  <a:schemeClr val="dk1"/>
                </a:solidFill>
              </a:rPr>
              <a:t>Conclusions broadly unchanged </a:t>
            </a:r>
            <a:endParaRPr sz="5600" dirty="0">
              <a:solidFill>
                <a:schemeClr val="dk1"/>
              </a:solidFill>
            </a:endParaRPr>
          </a:p>
          <a:p>
            <a:pPr marL="0" lvl="0" indent="0" algn="l" rtl="0">
              <a:spcBef>
                <a:spcPts val="1200"/>
              </a:spcBef>
              <a:spcAft>
                <a:spcPts val="0"/>
              </a:spcAft>
              <a:buNone/>
            </a:pPr>
            <a:endParaRPr sz="1500" dirty="0">
              <a:solidFill>
                <a:schemeClr val="dk1"/>
              </a:solidFill>
            </a:endParaRPr>
          </a:p>
          <a:p>
            <a:pPr marL="457200" lvl="0" indent="0" algn="l" rtl="0">
              <a:spcBef>
                <a:spcPts val="1200"/>
              </a:spcBef>
              <a:spcAft>
                <a:spcPts val="1200"/>
              </a:spcAft>
              <a:buNone/>
            </a:pPr>
            <a:endParaRPr sz="1400" dirty="0">
              <a:solidFill>
                <a:schemeClr val="dk1"/>
              </a:solidFill>
            </a:endParaRPr>
          </a:p>
        </p:txBody>
      </p:sp>
      <p:sp>
        <p:nvSpPr>
          <p:cNvPr id="103" name="Google Shape;103;p19"/>
          <p:cNvSpPr txBox="1">
            <a:spLocks noGrp="1"/>
          </p:cNvSpPr>
          <p:nvPr>
            <p:ph type="title"/>
          </p:nvPr>
        </p:nvSpPr>
        <p:spPr>
          <a:xfrm>
            <a:off x="311700" y="445025"/>
            <a:ext cx="378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Robustness </a:t>
            </a:r>
            <a:endParaRPr/>
          </a:p>
        </p:txBody>
      </p:sp>
      <p:sp>
        <p:nvSpPr>
          <p:cNvPr id="104" name="Google Shape;104;p19"/>
          <p:cNvSpPr txBox="1">
            <a:spLocks noGrp="1"/>
          </p:cNvSpPr>
          <p:nvPr>
            <p:ph type="body" idx="1"/>
          </p:nvPr>
        </p:nvSpPr>
        <p:spPr>
          <a:xfrm>
            <a:off x="4700700" y="1152475"/>
            <a:ext cx="4044300" cy="3416400"/>
          </a:xfrm>
          <a:prstGeom prst="rect">
            <a:avLst/>
          </a:prstGeom>
        </p:spPr>
        <p:txBody>
          <a:bodyPr spcFirstLastPara="1" wrap="square" lIns="91425" tIns="91425" rIns="91425" bIns="91425" anchor="t" anchorCtr="0">
            <a:normAutofit lnSpcReduction="10000"/>
          </a:bodyPr>
          <a:lstStyle/>
          <a:p>
            <a:pPr marL="114300" lvl="0" indent="0" algn="l" rtl="0">
              <a:spcBef>
                <a:spcPts val="0"/>
              </a:spcBef>
              <a:spcAft>
                <a:spcPts val="0"/>
              </a:spcAft>
              <a:buClr>
                <a:schemeClr val="dk1"/>
              </a:buClr>
              <a:buSzPts val="1800"/>
              <a:buNone/>
            </a:pPr>
            <a:r>
              <a:rPr lang="en-GB" dirty="0">
                <a:solidFill>
                  <a:schemeClr val="dk1"/>
                </a:solidFill>
              </a:rPr>
              <a:t>1. CAPM is a simplified asset pricing model</a:t>
            </a:r>
            <a:endParaRPr dirty="0">
              <a:solidFill>
                <a:schemeClr val="dk1"/>
              </a:solidFill>
            </a:endParaRPr>
          </a:p>
          <a:p>
            <a:pPr marL="914400" lvl="0" indent="0" algn="l" rtl="0">
              <a:spcBef>
                <a:spcPts val="1200"/>
              </a:spcBef>
              <a:spcAft>
                <a:spcPts val="0"/>
              </a:spcAft>
              <a:buNone/>
            </a:pPr>
            <a:endParaRPr sz="400" dirty="0">
              <a:solidFill>
                <a:schemeClr val="dk1"/>
              </a:solidFill>
            </a:endParaRPr>
          </a:p>
          <a:p>
            <a:pPr marL="114300" lvl="0" indent="0" algn="l" rtl="0">
              <a:spcBef>
                <a:spcPts val="1200"/>
              </a:spcBef>
              <a:spcAft>
                <a:spcPts val="0"/>
              </a:spcAft>
              <a:buClr>
                <a:schemeClr val="dk1"/>
              </a:buClr>
              <a:buSzPts val="1800"/>
              <a:buNone/>
            </a:pPr>
            <a:r>
              <a:rPr lang="en-GB" dirty="0">
                <a:solidFill>
                  <a:schemeClr val="dk1"/>
                </a:solidFill>
              </a:rPr>
              <a:t>2. Possible omitted variable bias</a:t>
            </a:r>
            <a:endParaRPr dirty="0">
              <a:solidFill>
                <a:schemeClr val="dk1"/>
              </a:solidFill>
            </a:endParaRPr>
          </a:p>
          <a:p>
            <a:pPr marL="914400" lvl="0" indent="0" algn="l" rtl="0">
              <a:spcBef>
                <a:spcPts val="1200"/>
              </a:spcBef>
              <a:spcAft>
                <a:spcPts val="0"/>
              </a:spcAft>
              <a:buNone/>
            </a:pPr>
            <a:endParaRPr sz="400" dirty="0">
              <a:solidFill>
                <a:schemeClr val="dk1"/>
              </a:solidFill>
            </a:endParaRPr>
          </a:p>
          <a:p>
            <a:pPr marL="114300" lvl="0" indent="0" algn="l" rtl="0">
              <a:spcBef>
                <a:spcPts val="1200"/>
              </a:spcBef>
              <a:spcAft>
                <a:spcPts val="0"/>
              </a:spcAft>
              <a:buClr>
                <a:schemeClr val="dk1"/>
              </a:buClr>
              <a:buSzPts val="1800"/>
              <a:buNone/>
            </a:pPr>
            <a:r>
              <a:rPr lang="en-GB" dirty="0">
                <a:solidFill>
                  <a:schemeClr val="dk1"/>
                </a:solidFill>
              </a:rPr>
              <a:t>3. RBA decisions partially anticipated</a:t>
            </a:r>
            <a:endParaRPr dirty="0">
              <a:solidFill>
                <a:schemeClr val="dk1"/>
              </a:solidFill>
            </a:endParaRPr>
          </a:p>
          <a:p>
            <a:pPr marL="914400" lvl="0" indent="0" algn="l" rtl="0">
              <a:spcBef>
                <a:spcPts val="1200"/>
              </a:spcBef>
              <a:spcAft>
                <a:spcPts val="0"/>
              </a:spcAft>
              <a:buNone/>
            </a:pPr>
            <a:endParaRPr sz="400" dirty="0">
              <a:solidFill>
                <a:schemeClr val="dk1"/>
              </a:solidFill>
            </a:endParaRPr>
          </a:p>
          <a:p>
            <a:pPr marL="114300" lvl="0" indent="0" algn="l" rtl="0">
              <a:spcBef>
                <a:spcPts val="1200"/>
              </a:spcBef>
              <a:spcAft>
                <a:spcPts val="0"/>
              </a:spcAft>
              <a:buClr>
                <a:schemeClr val="dk1"/>
              </a:buClr>
              <a:buSzPts val="1800"/>
              <a:buNone/>
            </a:pPr>
            <a:r>
              <a:rPr lang="en-GB" dirty="0">
                <a:solidFill>
                  <a:schemeClr val="dk1"/>
                </a:solidFill>
              </a:rPr>
              <a:t>4. Daily data cannot isolate all events</a:t>
            </a:r>
            <a:endParaRPr dirty="0">
              <a:solidFill>
                <a:schemeClr val="dk1"/>
              </a:solidFill>
            </a:endParaRPr>
          </a:p>
          <a:p>
            <a:pPr marL="914400" lvl="0" indent="0" algn="l" rtl="0">
              <a:spcBef>
                <a:spcPts val="1200"/>
              </a:spcBef>
              <a:spcAft>
                <a:spcPts val="0"/>
              </a:spcAft>
              <a:buNone/>
            </a:pPr>
            <a:endParaRPr sz="450" dirty="0">
              <a:solidFill>
                <a:schemeClr val="dk1"/>
              </a:solidFill>
            </a:endParaRPr>
          </a:p>
          <a:p>
            <a:pPr marL="114300" lvl="0" indent="0" algn="l" rtl="0">
              <a:spcBef>
                <a:spcPts val="1200"/>
              </a:spcBef>
              <a:spcAft>
                <a:spcPts val="0"/>
              </a:spcAft>
              <a:buClr>
                <a:schemeClr val="dk1"/>
              </a:buClr>
              <a:buSzPts val="1800"/>
              <a:buNone/>
            </a:pPr>
            <a:r>
              <a:rPr lang="en-GB">
                <a:solidFill>
                  <a:schemeClr val="dk1"/>
                </a:solidFill>
              </a:rPr>
              <a:t>5. Only </a:t>
            </a:r>
            <a:r>
              <a:rPr lang="en-GB" dirty="0">
                <a:solidFill>
                  <a:schemeClr val="dk1"/>
                </a:solidFill>
              </a:rPr>
              <a:t>sampled 4 firms</a:t>
            </a:r>
            <a:endParaRPr dirty="0">
              <a:solidFill>
                <a:schemeClr val="dk1"/>
              </a:solidFill>
            </a:endParaRPr>
          </a:p>
        </p:txBody>
      </p:sp>
      <p:sp>
        <p:nvSpPr>
          <p:cNvPr id="105" name="Google Shape;105;p19"/>
          <p:cNvSpPr txBox="1">
            <a:spLocks noGrp="1"/>
          </p:cNvSpPr>
          <p:nvPr>
            <p:ph type="title"/>
          </p:nvPr>
        </p:nvSpPr>
        <p:spPr>
          <a:xfrm>
            <a:off x="4700700" y="445025"/>
            <a:ext cx="378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Limitations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279550" y="2360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 and next steps </a:t>
            </a:r>
            <a:endParaRPr/>
          </a:p>
        </p:txBody>
      </p:sp>
      <p:sp>
        <p:nvSpPr>
          <p:cNvPr id="111" name="Google Shape;111;p20"/>
          <p:cNvSpPr txBox="1">
            <a:spLocks noGrp="1"/>
          </p:cNvSpPr>
          <p:nvPr>
            <p:ph type="body" idx="1"/>
          </p:nvPr>
        </p:nvSpPr>
        <p:spPr>
          <a:xfrm>
            <a:off x="215275" y="1752000"/>
            <a:ext cx="8520600" cy="2849100"/>
          </a:xfrm>
          <a:prstGeom prst="rect">
            <a:avLst/>
          </a:prstGeom>
        </p:spPr>
        <p:txBody>
          <a:bodyPr spcFirstLastPara="1" wrap="square" lIns="91425" tIns="91425" rIns="91425" bIns="91425" anchor="t" anchorCtr="0">
            <a:noAutofit/>
          </a:bodyPr>
          <a:lstStyle/>
          <a:p>
            <a:pPr marL="0" marR="0" lvl="0" indent="0" algn="l" rtl="0">
              <a:lnSpc>
                <a:spcPct val="150000"/>
              </a:lnSpc>
              <a:spcBef>
                <a:spcPts val="0"/>
              </a:spcBef>
              <a:spcAft>
                <a:spcPts val="0"/>
              </a:spcAft>
              <a:buNone/>
            </a:pPr>
            <a:r>
              <a:rPr lang="en-GB" sz="1400">
                <a:solidFill>
                  <a:schemeClr val="dk1"/>
                </a:solidFill>
              </a:rPr>
              <a:t>Main conclusions:</a:t>
            </a:r>
            <a:endParaRPr sz="1400">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GB" sz="1400">
                <a:solidFill>
                  <a:schemeClr val="dk1"/>
                </a:solidFill>
              </a:rPr>
              <a:t>Systematic market risk (𝛽) consistently explained stock returns</a:t>
            </a:r>
            <a:endParaRPr sz="1400">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GB" sz="1400">
                <a:solidFill>
                  <a:schemeClr val="dk1"/>
                </a:solidFill>
              </a:rPr>
              <a:t>Some firms displayed delayed reactions to RBA announcements </a:t>
            </a:r>
            <a:endParaRPr sz="1400">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GB" sz="1400">
                <a:solidFill>
                  <a:schemeClr val="dk1"/>
                </a:solidFill>
              </a:rPr>
              <a:t>Behavioural effects suggested temporary return predictability </a:t>
            </a:r>
            <a:endParaRPr sz="1400">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GB" sz="1400">
                <a:solidFill>
                  <a:schemeClr val="dk1"/>
                </a:solidFill>
              </a:rPr>
              <a:t>Evidence against EMH was stock specific and conditional </a:t>
            </a:r>
            <a:endParaRPr sz="1400">
              <a:solidFill>
                <a:schemeClr val="dk1"/>
              </a:solidFill>
            </a:endParaRPr>
          </a:p>
          <a:p>
            <a:pPr marL="914400" marR="0" lvl="0" indent="0" algn="l" rtl="0">
              <a:lnSpc>
                <a:spcPct val="150000"/>
              </a:lnSpc>
              <a:spcBef>
                <a:spcPts val="0"/>
              </a:spcBef>
              <a:spcAft>
                <a:spcPts val="0"/>
              </a:spcAft>
              <a:buNone/>
            </a:pPr>
            <a:endParaRPr sz="1400">
              <a:solidFill>
                <a:schemeClr val="dk1"/>
              </a:solidFill>
            </a:endParaRPr>
          </a:p>
          <a:p>
            <a:pPr marL="0" marR="0" lvl="0" indent="0" algn="l" rtl="0">
              <a:lnSpc>
                <a:spcPct val="150000"/>
              </a:lnSpc>
              <a:spcBef>
                <a:spcPts val="0"/>
              </a:spcBef>
              <a:spcAft>
                <a:spcPts val="0"/>
              </a:spcAft>
              <a:buNone/>
            </a:pPr>
            <a:r>
              <a:rPr lang="en-GB" sz="1400">
                <a:solidFill>
                  <a:schemeClr val="dk1"/>
                </a:solidFill>
              </a:rPr>
              <a:t>Next steps:</a:t>
            </a:r>
            <a:endParaRPr sz="1400">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GB" sz="1400">
                <a:solidFill>
                  <a:schemeClr val="dk1"/>
                </a:solidFill>
              </a:rPr>
              <a:t>Fama-French multifactor models</a:t>
            </a:r>
            <a:endParaRPr sz="1400">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GB" sz="1400">
                <a:solidFill>
                  <a:schemeClr val="dk1"/>
                </a:solidFill>
              </a:rPr>
              <a:t>Intraday event analysis</a:t>
            </a:r>
            <a:endParaRPr sz="1400">
              <a:solidFill>
                <a:schemeClr val="dk1"/>
              </a:solidFill>
            </a:endParaRPr>
          </a:p>
          <a:p>
            <a:pPr marL="457200" marR="0" lvl="0" indent="-317500" algn="l" rtl="0">
              <a:lnSpc>
                <a:spcPct val="150000"/>
              </a:lnSpc>
              <a:spcBef>
                <a:spcPts val="0"/>
              </a:spcBef>
              <a:spcAft>
                <a:spcPts val="0"/>
              </a:spcAft>
              <a:buClr>
                <a:schemeClr val="dk1"/>
              </a:buClr>
              <a:buSzPts val="1400"/>
              <a:buChar char="-"/>
            </a:pPr>
            <a:r>
              <a:rPr lang="en-GB" sz="1400">
                <a:solidFill>
                  <a:schemeClr val="dk1"/>
                </a:solidFill>
              </a:rPr>
              <a:t>Larger cross-sectional sample</a:t>
            </a:r>
            <a:endParaRPr sz="1400">
              <a:solidFill>
                <a:schemeClr val="dk1"/>
              </a:solidFill>
            </a:endParaRPr>
          </a:p>
        </p:txBody>
      </p:sp>
      <p:sp>
        <p:nvSpPr>
          <p:cNvPr id="112" name="Google Shape;112;p20"/>
          <p:cNvSpPr txBox="1">
            <a:spLocks noGrp="1"/>
          </p:cNvSpPr>
          <p:nvPr>
            <p:ph type="title"/>
          </p:nvPr>
        </p:nvSpPr>
        <p:spPr>
          <a:xfrm>
            <a:off x="279550" y="994038"/>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800"/>
              <a:t>Overall: Australian equity markets appear broadly efficient, but temporary inefficiencies may emerge under specific macroeconomic and behavioural conditions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References </a:t>
            </a:r>
            <a:endParaRPr/>
          </a:p>
        </p:txBody>
      </p:sp>
      <p:sp>
        <p:nvSpPr>
          <p:cNvPr id="118" name="Google Shape;118;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457200" algn="l" rtl="0">
              <a:lnSpc>
                <a:spcPct val="200000"/>
              </a:lnSpc>
              <a:spcBef>
                <a:spcPts val="0"/>
              </a:spcBef>
              <a:spcAft>
                <a:spcPts val="0"/>
              </a:spcAft>
              <a:buNone/>
            </a:pPr>
            <a:r>
              <a:rPr lang="en-GB" sz="1200">
                <a:solidFill>
                  <a:schemeClr val="dk1"/>
                </a:solidFill>
                <a:latin typeface="Oswald"/>
                <a:ea typeface="Oswald"/>
                <a:cs typeface="Oswald"/>
                <a:sym typeface="Oswald"/>
              </a:rPr>
              <a:t>Beechey, M., Gruen, D., &amp; Vickery, J. (2000). THE EFFICIENT MARKET HYPOTHESIS: A SURVEY. </a:t>
            </a:r>
            <a:r>
              <a:rPr lang="en-GB" sz="1200" u="sng">
                <a:solidFill>
                  <a:schemeClr val="hlink"/>
                </a:solidFill>
                <a:latin typeface="Oswald"/>
                <a:ea typeface="Oswald"/>
                <a:cs typeface="Oswald"/>
                <a:sym typeface="Oswald"/>
                <a:hlinkClick r:id="rId3"/>
              </a:rPr>
              <a:t>https://www.rba.gov.au/publications/rdp/2000/pdf/rdp2000-01.pdf</a:t>
            </a:r>
            <a:r>
              <a:rPr lang="en-GB" sz="1200">
                <a:solidFill>
                  <a:schemeClr val="dk1"/>
                </a:solidFill>
                <a:latin typeface="Oswald"/>
                <a:ea typeface="Oswald"/>
                <a:cs typeface="Oswald"/>
                <a:sym typeface="Oswald"/>
              </a:rPr>
              <a:t> </a:t>
            </a:r>
            <a:endParaRPr sz="1200">
              <a:solidFill>
                <a:schemeClr val="dk1"/>
              </a:solidFill>
              <a:latin typeface="Oswald"/>
              <a:ea typeface="Oswald"/>
              <a:cs typeface="Oswald"/>
              <a:sym typeface="Oswald"/>
            </a:endParaRPr>
          </a:p>
          <a:p>
            <a:pPr marL="457200" lvl="0" indent="-457200" algn="l" rtl="0">
              <a:lnSpc>
                <a:spcPct val="200000"/>
              </a:lnSpc>
              <a:spcBef>
                <a:spcPts val="0"/>
              </a:spcBef>
              <a:spcAft>
                <a:spcPts val="0"/>
              </a:spcAft>
              <a:buNone/>
            </a:pPr>
            <a:r>
              <a:rPr lang="en-GB" sz="1200">
                <a:solidFill>
                  <a:schemeClr val="dk1"/>
                </a:solidFill>
                <a:latin typeface="Oswald"/>
                <a:ea typeface="Oswald"/>
                <a:cs typeface="Oswald"/>
                <a:sym typeface="Oswald"/>
              </a:rPr>
              <a:t>Chiah, M., Gharghori, P., &amp; Zhong, A. (2018). Comovement in Anomalies between the Australian and US Equity Markets. International Review of Finance. </a:t>
            </a:r>
            <a:r>
              <a:rPr lang="en-GB" sz="1200" u="sng">
                <a:solidFill>
                  <a:schemeClr val="hlink"/>
                </a:solidFill>
                <a:latin typeface="Oswald"/>
                <a:ea typeface="Oswald"/>
                <a:cs typeface="Oswald"/>
                <a:sym typeface="Oswald"/>
                <a:hlinkClick r:id="rId4"/>
              </a:rPr>
              <a:t>https://doi.org/10.1111/irfi.12249</a:t>
            </a:r>
            <a:r>
              <a:rPr lang="en-GB" sz="1200">
                <a:solidFill>
                  <a:schemeClr val="dk1"/>
                </a:solidFill>
                <a:latin typeface="Oswald"/>
                <a:ea typeface="Oswald"/>
                <a:cs typeface="Oswald"/>
                <a:sym typeface="Oswald"/>
              </a:rPr>
              <a:t> </a:t>
            </a:r>
            <a:endParaRPr sz="1200">
              <a:solidFill>
                <a:schemeClr val="dk1"/>
              </a:solidFill>
              <a:latin typeface="Oswald"/>
              <a:ea typeface="Oswald"/>
              <a:cs typeface="Oswald"/>
              <a:sym typeface="Oswald"/>
            </a:endParaRPr>
          </a:p>
          <a:p>
            <a:pPr marL="457200" lvl="0" indent="-457200" algn="l" rtl="0">
              <a:lnSpc>
                <a:spcPct val="200000"/>
              </a:lnSpc>
              <a:spcBef>
                <a:spcPts val="0"/>
              </a:spcBef>
              <a:spcAft>
                <a:spcPts val="0"/>
              </a:spcAft>
              <a:buNone/>
            </a:pPr>
            <a:r>
              <a:rPr lang="en-GB" sz="1200">
                <a:solidFill>
                  <a:schemeClr val="dk1"/>
                </a:solidFill>
                <a:latin typeface="Oswald"/>
                <a:ea typeface="Oswald"/>
                <a:cs typeface="Oswald"/>
                <a:sym typeface="Oswald"/>
              </a:rPr>
              <a:t>Fama, E. (1970). Efficient Capital markets: a Review of Theory and Empirical Work. The Journal of Finance, 25(2), 383–417. </a:t>
            </a:r>
            <a:r>
              <a:rPr lang="en-GB" sz="1200" u="sng">
                <a:solidFill>
                  <a:schemeClr val="hlink"/>
                </a:solidFill>
                <a:latin typeface="Oswald"/>
                <a:ea typeface="Oswald"/>
                <a:cs typeface="Oswald"/>
                <a:sym typeface="Oswald"/>
                <a:hlinkClick r:id="rId5"/>
              </a:rPr>
              <a:t>https://doi.org/10.2307/2325486</a:t>
            </a:r>
            <a:r>
              <a:rPr lang="en-GB" sz="1200">
                <a:solidFill>
                  <a:schemeClr val="dk1"/>
                </a:solidFill>
                <a:latin typeface="Oswald"/>
                <a:ea typeface="Oswald"/>
                <a:cs typeface="Oswald"/>
                <a:sym typeface="Oswald"/>
              </a:rPr>
              <a:t> </a:t>
            </a:r>
            <a:endParaRPr sz="1200">
              <a:solidFill>
                <a:schemeClr val="dk1"/>
              </a:solidFill>
              <a:latin typeface="Oswald"/>
              <a:ea typeface="Oswald"/>
              <a:cs typeface="Oswald"/>
              <a:sym typeface="Oswald"/>
            </a:endParaRPr>
          </a:p>
          <a:p>
            <a:pPr marL="457200" lvl="0" indent="-457200" algn="l" rtl="0">
              <a:lnSpc>
                <a:spcPct val="200000"/>
              </a:lnSpc>
              <a:spcBef>
                <a:spcPts val="0"/>
              </a:spcBef>
              <a:spcAft>
                <a:spcPts val="0"/>
              </a:spcAft>
              <a:buNone/>
            </a:pPr>
            <a:r>
              <a:rPr lang="en-GB" sz="1200">
                <a:solidFill>
                  <a:schemeClr val="dk1"/>
                </a:solidFill>
                <a:latin typeface="Oswald"/>
                <a:ea typeface="Oswald"/>
                <a:cs typeface="Oswald"/>
                <a:sym typeface="Oswald"/>
              </a:rPr>
              <a:t> </a:t>
            </a:r>
            <a:endParaRPr sz="1200">
              <a:solidFill>
                <a:schemeClr val="dk1"/>
              </a:solidFill>
              <a:latin typeface="Oswald"/>
              <a:ea typeface="Oswald"/>
              <a:cs typeface="Oswald"/>
              <a:sym typeface="Oswald"/>
            </a:endParaRPr>
          </a:p>
          <a:p>
            <a:pPr marL="0" lvl="0" indent="0" algn="l" rtl="0">
              <a:spcBef>
                <a:spcPts val="0"/>
              </a:spcBef>
              <a:spcAft>
                <a:spcPts val="1200"/>
              </a:spcAft>
              <a:buNone/>
            </a:pPr>
            <a:endParaRPr>
              <a:solidFill>
                <a:schemeClr val="dk1"/>
              </a:solidFill>
              <a:latin typeface="Oswald"/>
              <a:ea typeface="Oswald"/>
              <a:cs typeface="Oswald"/>
              <a:sym typeface="Oswald"/>
            </a:endParaRP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741</Words>
  <Application>Microsoft Office PowerPoint</Application>
  <PresentationFormat>On-screen Show (16:9)</PresentationFormat>
  <Paragraphs>77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Times New Roman</vt:lpstr>
      <vt:lpstr>Average</vt:lpstr>
      <vt:lpstr>Oswald</vt:lpstr>
      <vt:lpstr>Arial</vt:lpstr>
      <vt:lpstr>Slate</vt:lpstr>
      <vt:lpstr>How do changes in key macroeconomic variables affect stock returns of ASX-200 constituents from 2014-2024, and to what extent do these effects challenge the assumptions of the Efficient Market Hypothesis? </vt:lpstr>
      <vt:lpstr>Research Question</vt:lpstr>
      <vt:lpstr>Why it Matters</vt:lpstr>
      <vt:lpstr>Data</vt:lpstr>
      <vt:lpstr>Empirical Strategy </vt:lpstr>
      <vt:lpstr>Main Results</vt:lpstr>
      <vt:lpstr>Robustness </vt:lpstr>
      <vt:lpstr>Conclusion and next steps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sharna m</cp:lastModifiedBy>
  <cp:revision>1</cp:revision>
  <dcterms:modified xsi:type="dcterms:W3CDTF">2026-05-18T14:13:22Z</dcterms:modified>
</cp:coreProperties>
</file>